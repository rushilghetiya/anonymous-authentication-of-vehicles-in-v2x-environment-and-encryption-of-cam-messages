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Open Sauce" pitchFamily="2" charset="77"/>
      <p:regular r:id="rId13"/>
    </p:embeddedFont>
    <p:embeddedFont>
      <p:font typeface="Open Sauce Bold" pitchFamily="2" charset="77"/>
      <p:regular r:id="rId14"/>
      <p:bold r:id="rId15"/>
    </p:embeddedFont>
    <p:embeddedFont>
      <p:font typeface="Open Sauce Light" pitchFamily="2" charset="77"/>
      <p:regular r:id="rId16"/>
    </p:embeddedFont>
    <p:embeddedFont>
      <p:font typeface="Ovo" panose="02020502070400060406" pitchFamily="18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49" autoAdjust="0"/>
  </p:normalViewPr>
  <p:slideViewPr>
    <p:cSldViewPr>
      <p:cViewPr varScale="1">
        <p:scale>
          <a:sx n="68" d="100"/>
          <a:sy n="68" d="100"/>
        </p:scale>
        <p:origin x="1000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0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1.png"/><Relationship Id="rId7" Type="http://schemas.openxmlformats.org/officeDocument/2006/relationships/image" Target="../media/image45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9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7.svg"/><Relationship Id="rId7" Type="http://schemas.openxmlformats.org/officeDocument/2006/relationships/image" Target="../media/image28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4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0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36.png"/><Relationship Id="rId7" Type="http://schemas.openxmlformats.org/officeDocument/2006/relationships/image" Target="../media/image31.png"/><Relationship Id="rId12" Type="http://schemas.openxmlformats.org/officeDocument/2006/relationships/image" Target="../media/image49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svg"/><Relationship Id="rId11" Type="http://schemas.openxmlformats.org/officeDocument/2006/relationships/image" Target="../media/image48.png"/><Relationship Id="rId5" Type="http://schemas.openxmlformats.org/officeDocument/2006/relationships/image" Target="../media/image46.png"/><Relationship Id="rId10" Type="http://schemas.openxmlformats.org/officeDocument/2006/relationships/image" Target="../media/image28.svg"/><Relationship Id="rId4" Type="http://schemas.openxmlformats.org/officeDocument/2006/relationships/image" Target="../media/image37.sv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7" Type="http://schemas.openxmlformats.org/officeDocument/2006/relationships/image" Target="../media/image26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2267"/>
            <a:ext cx="7813806" cy="8887251"/>
            <a:chOff x="0" y="0"/>
            <a:chExt cx="5600700" cy="637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00700" cy="6370114"/>
            </a:xfrm>
            <a:custGeom>
              <a:avLst/>
              <a:gdLst/>
              <a:ahLst/>
              <a:cxnLst/>
              <a:rect l="l" t="t" r="r" b="b"/>
              <a:pathLst>
                <a:path w="5600700" h="6370114">
                  <a:moveTo>
                    <a:pt x="3177540" y="0"/>
                  </a:moveTo>
                  <a:lnTo>
                    <a:pt x="0" y="0"/>
                  </a:lnTo>
                  <a:lnTo>
                    <a:pt x="0" y="4771085"/>
                  </a:lnTo>
                  <a:lnTo>
                    <a:pt x="2421890" y="4771085"/>
                  </a:lnTo>
                  <a:lnTo>
                    <a:pt x="2421890" y="6370114"/>
                  </a:lnTo>
                  <a:lnTo>
                    <a:pt x="5600700" y="6370114"/>
                  </a:lnTo>
                  <a:lnTo>
                    <a:pt x="5600700" y="1599028"/>
                  </a:lnTo>
                  <a:lnTo>
                    <a:pt x="3177540" y="1599028"/>
                  </a:lnTo>
                  <a:lnTo>
                    <a:pt x="3177540" y="0"/>
                  </a:lnTo>
                  <a:close/>
                </a:path>
              </a:pathLst>
            </a:custGeom>
            <a:blipFill>
              <a:blip r:embed="rId2"/>
              <a:stretch>
                <a:fillRect l="-28575" r="-285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6718005" y="0"/>
            <a:ext cx="2192128" cy="2192128"/>
          </a:xfrm>
          <a:custGeom>
            <a:avLst/>
            <a:gdLst/>
            <a:ahLst/>
            <a:cxnLst/>
            <a:rect l="l" t="t" r="r" b="b"/>
            <a:pathLst>
              <a:path w="2192128" h="2192128">
                <a:moveTo>
                  <a:pt x="0" y="0"/>
                </a:moveTo>
                <a:lnTo>
                  <a:pt x="2192128" y="0"/>
                </a:lnTo>
                <a:lnTo>
                  <a:pt x="2192128" y="2192128"/>
                </a:lnTo>
                <a:lnTo>
                  <a:pt x="0" y="21921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5400000">
            <a:off x="-432338" y="7024814"/>
            <a:ext cx="2242507" cy="1377834"/>
          </a:xfrm>
          <a:custGeom>
            <a:avLst/>
            <a:gdLst/>
            <a:ahLst/>
            <a:cxnLst/>
            <a:rect l="l" t="t" r="r" b="b"/>
            <a:pathLst>
              <a:path w="2242507" h="2242507">
                <a:moveTo>
                  <a:pt x="0" y="0"/>
                </a:moveTo>
                <a:lnTo>
                  <a:pt x="2242507" y="0"/>
                </a:lnTo>
                <a:lnTo>
                  <a:pt x="2242507" y="2242507"/>
                </a:lnTo>
                <a:lnTo>
                  <a:pt x="0" y="2242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0000">
            <a:off x="7814069" y="8834984"/>
            <a:ext cx="1454383" cy="1454383"/>
          </a:xfrm>
          <a:custGeom>
            <a:avLst/>
            <a:gdLst/>
            <a:ahLst/>
            <a:cxnLst/>
            <a:rect l="l" t="t" r="r" b="b"/>
            <a:pathLst>
              <a:path w="1454383" h="1454383">
                <a:moveTo>
                  <a:pt x="0" y="0"/>
                </a:moveTo>
                <a:lnTo>
                  <a:pt x="1454383" y="0"/>
                </a:lnTo>
                <a:lnTo>
                  <a:pt x="1454383" y="1454384"/>
                </a:lnTo>
                <a:lnTo>
                  <a:pt x="0" y="14543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5400000">
            <a:off x="1652521" y="8560297"/>
            <a:ext cx="1452016" cy="2001389"/>
          </a:xfrm>
          <a:custGeom>
            <a:avLst/>
            <a:gdLst/>
            <a:ahLst/>
            <a:cxnLst/>
            <a:rect l="l" t="t" r="r" b="b"/>
            <a:pathLst>
              <a:path w="2001389" h="2001389">
                <a:moveTo>
                  <a:pt x="0" y="0"/>
                </a:moveTo>
                <a:lnTo>
                  <a:pt x="2001389" y="0"/>
                </a:lnTo>
                <a:lnTo>
                  <a:pt x="2001389" y="2001389"/>
                </a:lnTo>
                <a:lnTo>
                  <a:pt x="0" y="20013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756214" y="7094810"/>
            <a:ext cx="1244629" cy="1237840"/>
          </a:xfrm>
          <a:custGeom>
            <a:avLst/>
            <a:gdLst/>
            <a:ahLst/>
            <a:cxnLst/>
            <a:rect l="l" t="t" r="r" b="b"/>
            <a:pathLst>
              <a:path w="1244629" h="1237840">
                <a:moveTo>
                  <a:pt x="0" y="0"/>
                </a:moveTo>
                <a:lnTo>
                  <a:pt x="1244629" y="0"/>
                </a:lnTo>
                <a:lnTo>
                  <a:pt x="1244629" y="1237841"/>
                </a:lnTo>
                <a:lnTo>
                  <a:pt x="0" y="12378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986093" y="501117"/>
            <a:ext cx="1189895" cy="1189895"/>
          </a:xfrm>
          <a:custGeom>
            <a:avLst/>
            <a:gdLst/>
            <a:ahLst/>
            <a:cxnLst/>
            <a:rect l="l" t="t" r="r" b="b"/>
            <a:pathLst>
              <a:path w="1189895" h="1189895">
                <a:moveTo>
                  <a:pt x="0" y="0"/>
                </a:moveTo>
                <a:lnTo>
                  <a:pt x="1189894" y="0"/>
                </a:lnTo>
                <a:lnTo>
                  <a:pt x="1189894" y="1189895"/>
                </a:lnTo>
                <a:lnTo>
                  <a:pt x="0" y="11898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9672634" y="1913416"/>
            <a:ext cx="7282691" cy="4555236"/>
            <a:chOff x="0" y="0"/>
            <a:chExt cx="9710254" cy="6073648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52400"/>
              <a:ext cx="9710254" cy="4561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00"/>
                </a:lnSpc>
              </a:pPr>
              <a:r>
                <a:rPr lang="en-US" sz="8700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Anonymous Authentication in V2X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5514340"/>
              <a:ext cx="9710254" cy="559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4"/>
                </a:lnSpc>
                <a:spcBef>
                  <a:spcPct val="0"/>
                </a:spcBef>
              </a:pPr>
              <a:r>
                <a:rPr lang="en-US" sz="2610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Secure Communication Methods Explained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649452" y="7174865"/>
            <a:ext cx="7091809" cy="208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>
                <a:solidFill>
                  <a:srgbClr val="0B1716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Team Members:</a:t>
            </a:r>
          </a:p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sz="3200">
                <a:solidFill>
                  <a:srgbClr val="0B1716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Anirudh Bansal - RA2211003011208</a:t>
            </a:r>
          </a:p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sz="3200">
                <a:solidFill>
                  <a:srgbClr val="0B1716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Adittya Sengupta - RA2211003011215</a:t>
            </a:r>
          </a:p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sz="3200">
                <a:solidFill>
                  <a:srgbClr val="0B1716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Rushil Ghetiya - RA2211003011217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54571" y="5143500"/>
            <a:ext cx="2555809" cy="2555809"/>
          </a:xfrm>
          <a:custGeom>
            <a:avLst/>
            <a:gdLst/>
            <a:ahLst/>
            <a:cxnLst/>
            <a:rect l="l" t="t" r="r" b="b"/>
            <a:pathLst>
              <a:path w="2555809" h="2555809">
                <a:moveTo>
                  <a:pt x="0" y="0"/>
                </a:moveTo>
                <a:lnTo>
                  <a:pt x="2555809" y="0"/>
                </a:lnTo>
                <a:lnTo>
                  <a:pt x="2555809" y="2555809"/>
                </a:lnTo>
                <a:lnTo>
                  <a:pt x="0" y="2555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699456" y="228491"/>
            <a:ext cx="2554411" cy="3106665"/>
          </a:xfrm>
          <a:custGeom>
            <a:avLst/>
            <a:gdLst/>
            <a:ahLst/>
            <a:cxnLst/>
            <a:rect l="l" t="t" r="r" b="b"/>
            <a:pathLst>
              <a:path w="3106665" h="3106665">
                <a:moveTo>
                  <a:pt x="0" y="0"/>
                </a:moveTo>
                <a:lnTo>
                  <a:pt x="3106665" y="0"/>
                </a:lnTo>
                <a:lnTo>
                  <a:pt x="3106665" y="3106664"/>
                </a:lnTo>
                <a:lnTo>
                  <a:pt x="0" y="31066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154571" y="7699309"/>
            <a:ext cx="2554410" cy="2554410"/>
          </a:xfrm>
          <a:custGeom>
            <a:avLst/>
            <a:gdLst/>
            <a:ahLst/>
            <a:cxnLst/>
            <a:rect l="l" t="t" r="r" b="b"/>
            <a:pathLst>
              <a:path w="2554410" h="2554410">
                <a:moveTo>
                  <a:pt x="0" y="0"/>
                </a:moveTo>
                <a:lnTo>
                  <a:pt x="2554410" y="0"/>
                </a:lnTo>
                <a:lnTo>
                  <a:pt x="2554410" y="2554410"/>
                </a:lnTo>
                <a:lnTo>
                  <a:pt x="0" y="2554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699457" y="3305180"/>
            <a:ext cx="2588544" cy="5719625"/>
          </a:xfrm>
          <a:custGeom>
            <a:avLst/>
            <a:gdLst/>
            <a:ahLst/>
            <a:cxnLst/>
            <a:rect l="l" t="t" r="r" b="b"/>
            <a:pathLst>
              <a:path w="5719625" h="5719625">
                <a:moveTo>
                  <a:pt x="0" y="0"/>
                </a:moveTo>
                <a:lnTo>
                  <a:pt x="5719625" y="0"/>
                </a:lnTo>
                <a:lnTo>
                  <a:pt x="5719625" y="5719625"/>
                </a:lnTo>
                <a:lnTo>
                  <a:pt x="0" y="5719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1028700"/>
            <a:ext cx="11920124" cy="3515371"/>
            <a:chOff x="0" y="0"/>
            <a:chExt cx="15893499" cy="4687161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15893499" cy="3681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999"/>
                </a:lnSpc>
              </a:pPr>
              <a:r>
                <a:rPr lang="en-US" sz="8799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Introduction to V2X Communication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039461"/>
              <a:ext cx="12031149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Exploring the security challenges in V2X systems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6871735"/>
            <a:ext cx="4327193" cy="2153070"/>
            <a:chOff x="0" y="0"/>
            <a:chExt cx="5769591" cy="287076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38100"/>
              <a:ext cx="5769591" cy="1209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0B171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Key Components of V2X Technology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492133"/>
              <a:ext cx="5769591" cy="1378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l">
                <a:lnSpc>
                  <a:spcPts val="4316"/>
                </a:lnSpc>
                <a:buFont typeface="Arial"/>
                <a:buChar char="•"/>
              </a:pPr>
              <a:r>
                <a:rPr lang="en-US" sz="2600" u="none" strike="noStrike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Vehicles communicate with infrastructure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15291" y="7414660"/>
            <a:ext cx="4327193" cy="1610145"/>
            <a:chOff x="0" y="0"/>
            <a:chExt cx="5769591" cy="214686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5769591" cy="1209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0B171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Major Security Threats in V2X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492133"/>
              <a:ext cx="5769591" cy="654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l">
                <a:lnSpc>
                  <a:spcPts val="4316"/>
                </a:lnSpc>
                <a:buFont typeface="Arial"/>
                <a:buChar char="•"/>
              </a:pPr>
              <a:r>
                <a:rPr lang="en-US" sz="2600" u="none" strike="noStrike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Data privacy concerns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27600" y="0"/>
            <a:ext cx="8555432" cy="8864173"/>
            <a:chOff x="0" y="0"/>
            <a:chExt cx="4857277" cy="50325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57277" cy="5032562"/>
            </a:xfrm>
            <a:custGeom>
              <a:avLst/>
              <a:gdLst/>
              <a:ahLst/>
              <a:cxnLst/>
              <a:rect l="l" t="t" r="r" b="b"/>
              <a:pathLst>
                <a:path w="4857277" h="5032562">
                  <a:moveTo>
                    <a:pt x="0" y="0"/>
                  </a:moveTo>
                  <a:lnTo>
                    <a:pt x="0" y="3145859"/>
                  </a:lnTo>
                  <a:lnTo>
                    <a:pt x="1004767" y="3145859"/>
                  </a:lnTo>
                  <a:lnTo>
                    <a:pt x="1004767" y="5032562"/>
                  </a:lnTo>
                  <a:lnTo>
                    <a:pt x="4354352" y="5032562"/>
                  </a:lnTo>
                  <a:lnTo>
                    <a:pt x="4354352" y="1886703"/>
                  </a:lnTo>
                  <a:lnTo>
                    <a:pt x="4857277" y="1886703"/>
                  </a:lnTo>
                  <a:lnTo>
                    <a:pt x="4857277" y="0"/>
                  </a:lnTo>
                  <a:close/>
                </a:path>
              </a:pathLst>
            </a:custGeom>
            <a:blipFill>
              <a:blip r:embed="rId2"/>
              <a:stretch>
                <a:fillRect l="-30161" r="-3016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 rot="5400000">
            <a:off x="14669100" y="-91127"/>
            <a:ext cx="2213932" cy="2213932"/>
          </a:xfrm>
          <a:custGeom>
            <a:avLst/>
            <a:gdLst/>
            <a:ahLst/>
            <a:cxnLst/>
            <a:rect l="l" t="t" r="r" b="b"/>
            <a:pathLst>
              <a:path w="2213932" h="2213932">
                <a:moveTo>
                  <a:pt x="0" y="0"/>
                </a:moveTo>
                <a:lnTo>
                  <a:pt x="2213932" y="0"/>
                </a:lnTo>
                <a:lnTo>
                  <a:pt x="2213932" y="2213932"/>
                </a:lnTo>
                <a:lnTo>
                  <a:pt x="0" y="2213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366615" y="8064664"/>
            <a:ext cx="1785369" cy="2094319"/>
          </a:xfrm>
          <a:custGeom>
            <a:avLst/>
            <a:gdLst/>
            <a:ahLst/>
            <a:cxnLst/>
            <a:rect l="l" t="t" r="r" b="b"/>
            <a:pathLst>
              <a:path w="2966469" h="2966469">
                <a:moveTo>
                  <a:pt x="0" y="0"/>
                </a:moveTo>
                <a:lnTo>
                  <a:pt x="2966469" y="0"/>
                </a:lnTo>
                <a:lnTo>
                  <a:pt x="2966469" y="2966468"/>
                </a:lnTo>
                <a:lnTo>
                  <a:pt x="0" y="29664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122468" y="2712375"/>
            <a:ext cx="3307196" cy="3289156"/>
          </a:xfrm>
          <a:custGeom>
            <a:avLst/>
            <a:gdLst/>
            <a:ahLst/>
            <a:cxnLst/>
            <a:rect l="l" t="t" r="r" b="b"/>
            <a:pathLst>
              <a:path w="3307196" h="3289156">
                <a:moveTo>
                  <a:pt x="0" y="0"/>
                </a:moveTo>
                <a:lnTo>
                  <a:pt x="3307196" y="0"/>
                </a:lnTo>
                <a:lnTo>
                  <a:pt x="3307196" y="3289156"/>
                </a:lnTo>
                <a:lnTo>
                  <a:pt x="0" y="32891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16395067" y="5985937"/>
            <a:ext cx="1522562" cy="1567833"/>
          </a:xfrm>
          <a:custGeom>
            <a:avLst/>
            <a:gdLst/>
            <a:ahLst/>
            <a:cxnLst/>
            <a:rect l="l" t="t" r="r" b="b"/>
            <a:pathLst>
              <a:path w="2440856" h="2440856">
                <a:moveTo>
                  <a:pt x="0" y="0"/>
                </a:moveTo>
                <a:lnTo>
                  <a:pt x="2440856" y="0"/>
                </a:lnTo>
                <a:lnTo>
                  <a:pt x="2440856" y="2440857"/>
                </a:lnTo>
                <a:lnTo>
                  <a:pt x="0" y="24408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028700" y="3907997"/>
            <a:ext cx="6839866" cy="5350303"/>
            <a:chOff x="0" y="0"/>
            <a:chExt cx="9119822" cy="7133737"/>
          </a:xfrm>
        </p:grpSpPr>
        <p:sp>
          <p:nvSpPr>
            <p:cNvPr id="9" name="TextBox 9"/>
            <p:cNvSpPr txBox="1"/>
            <p:nvPr/>
          </p:nvSpPr>
          <p:spPr>
            <a:xfrm>
              <a:off x="0" y="123825"/>
              <a:ext cx="9119822" cy="3940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500"/>
                </a:lnSpc>
              </a:pPr>
              <a:r>
                <a:rPr lang="en-US" sz="7500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Understanding V2X Communication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748735"/>
              <a:ext cx="9119822" cy="2385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215" u="none" strike="noStrike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V2X communication enables vehicles to exchange information with each other and infrastructure, enhancing road safety and traffic efficiency through </a:t>
              </a:r>
              <a:r>
                <a:rPr lang="en-US" sz="2215" b="1" u="none" strike="noStrike">
                  <a:solidFill>
                    <a:srgbClr val="0B1716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real-time data sharing</a:t>
              </a:r>
              <a:r>
                <a:rPr lang="en-US" sz="2215" u="none" strike="noStrike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and improved awareness of surroundings.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427876" y="3436454"/>
            <a:ext cx="7139516" cy="0"/>
          </a:xfrm>
          <a:prstGeom prst="line">
            <a:avLst/>
          </a:prstGeom>
          <a:ln w="9525" cap="flat">
            <a:solidFill>
              <a:srgbClr val="753A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9427876" y="7402778"/>
            <a:ext cx="7139516" cy="0"/>
          </a:xfrm>
          <a:prstGeom prst="line">
            <a:avLst/>
          </a:prstGeom>
          <a:ln w="9525" cap="flat">
            <a:solidFill>
              <a:srgbClr val="753A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9427876" y="5471349"/>
            <a:ext cx="7139516" cy="0"/>
          </a:xfrm>
          <a:prstGeom prst="line">
            <a:avLst/>
          </a:prstGeom>
          <a:ln w="9525" cap="flat">
            <a:solidFill>
              <a:srgbClr val="753A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3559402"/>
            <a:ext cx="6475629" cy="355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40"/>
              </a:lnSpc>
              <a:spcBef>
                <a:spcPct val="0"/>
              </a:spcBef>
            </a:pPr>
            <a:r>
              <a:rPr lang="en-US" sz="6940" u="none" strike="noStrike">
                <a:solidFill>
                  <a:srgbClr val="0B1716"/>
                </a:solidFill>
                <a:latin typeface="Ovo"/>
                <a:ea typeface="Ovo"/>
                <a:cs typeface="Ovo"/>
                <a:sym typeface="Ovo"/>
              </a:rPr>
              <a:t>Security and Privacy Challenges in V2X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427876" y="2078190"/>
            <a:ext cx="7139516" cy="826402"/>
            <a:chOff x="0" y="0"/>
            <a:chExt cx="9519354" cy="1101869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9519354" cy="527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28"/>
                </a:lnSpc>
              </a:pPr>
              <a:r>
                <a:rPr lang="en-US" sz="2524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Data Interception Risks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84409"/>
              <a:ext cx="9519354" cy="417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63"/>
                </a:lnSpc>
              </a:pPr>
              <a:r>
                <a:rPr lang="en-US" sz="1971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Unauthorized access can lead to sensitive data leaks.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27876" y="4013949"/>
            <a:ext cx="7139516" cy="826402"/>
            <a:chOff x="0" y="0"/>
            <a:chExt cx="9519354" cy="110186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"/>
              <a:ext cx="9519354" cy="527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28"/>
                </a:lnSpc>
              </a:pPr>
              <a:r>
                <a:rPr lang="en-US" sz="2524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Spoofing Attacks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84409"/>
              <a:ext cx="9519354" cy="417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63"/>
                </a:lnSpc>
              </a:pPr>
              <a:r>
                <a:rPr lang="en-US" sz="1971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Malicious entities can send false information to vehicles.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27876" y="5949708"/>
            <a:ext cx="7139516" cy="826402"/>
            <a:chOff x="0" y="0"/>
            <a:chExt cx="9519354" cy="1101869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9050"/>
              <a:ext cx="9519354" cy="527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28"/>
                </a:lnSpc>
              </a:pPr>
              <a:r>
                <a:rPr lang="en-US" sz="2524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Identity Privacy Issues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84409"/>
              <a:ext cx="9519354" cy="417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63"/>
                </a:lnSpc>
              </a:pPr>
              <a:r>
                <a:rPr lang="en-US" sz="1971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Driver identities may be exposed during communication.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27876" y="7885468"/>
            <a:ext cx="7139516" cy="826402"/>
            <a:chOff x="0" y="0"/>
            <a:chExt cx="9519354" cy="1101869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9050"/>
              <a:ext cx="9519354" cy="527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28"/>
                </a:lnSpc>
              </a:pPr>
              <a:r>
                <a:rPr lang="en-US" sz="2524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Insufficient Authentication Measures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684409"/>
              <a:ext cx="9519354" cy="417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63"/>
                </a:lnSpc>
              </a:pPr>
              <a:r>
                <a:rPr lang="en-US" sz="1971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Weak authentication can allow unauthorized vehicle access.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3879084" y="8399084"/>
            <a:ext cx="999031" cy="999031"/>
          </a:xfrm>
          <a:custGeom>
            <a:avLst/>
            <a:gdLst/>
            <a:ahLst/>
            <a:cxnLst/>
            <a:rect l="l" t="t" r="r" b="b"/>
            <a:pathLst>
              <a:path w="999031" h="999031">
                <a:moveTo>
                  <a:pt x="0" y="0"/>
                </a:moveTo>
                <a:lnTo>
                  <a:pt x="999032" y="0"/>
                </a:lnTo>
                <a:lnTo>
                  <a:pt x="999032" y="999032"/>
                </a:lnTo>
                <a:lnTo>
                  <a:pt x="0" y="99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3879084" y="1154540"/>
            <a:ext cx="999031" cy="999031"/>
          </a:xfrm>
          <a:custGeom>
            <a:avLst/>
            <a:gdLst/>
            <a:ahLst/>
            <a:cxnLst/>
            <a:rect l="l" t="t" r="r" b="b"/>
            <a:pathLst>
              <a:path w="999031" h="999031">
                <a:moveTo>
                  <a:pt x="0" y="0"/>
                </a:moveTo>
                <a:lnTo>
                  <a:pt x="999032" y="0"/>
                </a:lnTo>
                <a:lnTo>
                  <a:pt x="999032" y="999031"/>
                </a:lnTo>
                <a:lnTo>
                  <a:pt x="0" y="9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-5400000">
            <a:off x="978295" y="8276655"/>
            <a:ext cx="1250711" cy="1243889"/>
          </a:xfrm>
          <a:custGeom>
            <a:avLst/>
            <a:gdLst/>
            <a:ahLst/>
            <a:cxnLst/>
            <a:rect l="l" t="t" r="r" b="b"/>
            <a:pathLst>
              <a:path w="1250711" h="1243889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5400000">
            <a:off x="978295" y="1032111"/>
            <a:ext cx="1250711" cy="1243889"/>
          </a:xfrm>
          <a:custGeom>
            <a:avLst/>
            <a:gdLst/>
            <a:ahLst/>
            <a:cxnLst/>
            <a:rect l="l" t="t" r="r" b="b"/>
            <a:pathLst>
              <a:path w="1250711" h="1243889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 rot="-5400000">
            <a:off x="5189030" y="8276655"/>
            <a:ext cx="1250711" cy="1243889"/>
          </a:xfrm>
          <a:custGeom>
            <a:avLst/>
            <a:gdLst/>
            <a:ahLst/>
            <a:cxnLst/>
            <a:rect l="l" t="t" r="r" b="b"/>
            <a:pathLst>
              <a:path w="1250711" h="1243889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 rot="-5400000">
            <a:off x="5189030" y="1032111"/>
            <a:ext cx="1250711" cy="1243889"/>
          </a:xfrm>
          <a:custGeom>
            <a:avLst/>
            <a:gdLst/>
            <a:ahLst/>
            <a:cxnLst/>
            <a:rect l="l" t="t" r="r" b="b"/>
            <a:pathLst>
              <a:path w="1250711" h="1243889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 rot="-5400000">
            <a:off x="2641943" y="8437060"/>
            <a:ext cx="923080" cy="923080"/>
          </a:xfrm>
          <a:custGeom>
            <a:avLst/>
            <a:gdLst/>
            <a:ahLst/>
            <a:cxnLst/>
            <a:rect l="l" t="t" r="r" b="b"/>
            <a:pathLst>
              <a:path w="923080" h="923080">
                <a:moveTo>
                  <a:pt x="0" y="0"/>
                </a:moveTo>
                <a:lnTo>
                  <a:pt x="923080" y="0"/>
                </a:lnTo>
                <a:lnTo>
                  <a:pt x="923080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 rot="-5400000">
            <a:off x="2641943" y="1192516"/>
            <a:ext cx="923080" cy="923080"/>
          </a:xfrm>
          <a:custGeom>
            <a:avLst/>
            <a:gdLst/>
            <a:ahLst/>
            <a:cxnLst/>
            <a:rect l="l" t="t" r="r" b="b"/>
            <a:pathLst>
              <a:path w="923080" h="923080">
                <a:moveTo>
                  <a:pt x="0" y="0"/>
                </a:moveTo>
                <a:lnTo>
                  <a:pt x="923080" y="0"/>
                </a:lnTo>
                <a:lnTo>
                  <a:pt x="923080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12316" y="4438710"/>
            <a:ext cx="16175684" cy="5848290"/>
            <a:chOff x="0" y="0"/>
            <a:chExt cx="9860813" cy="33495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60813" cy="3349504"/>
            </a:xfrm>
            <a:custGeom>
              <a:avLst/>
              <a:gdLst/>
              <a:ahLst/>
              <a:cxnLst/>
              <a:rect l="l" t="t" r="r" b="b"/>
              <a:pathLst>
                <a:path w="9860813" h="3349504">
                  <a:moveTo>
                    <a:pt x="0" y="0"/>
                  </a:moveTo>
                  <a:lnTo>
                    <a:pt x="0" y="2093778"/>
                  </a:lnTo>
                  <a:lnTo>
                    <a:pt x="2039790" y="2093778"/>
                  </a:lnTo>
                  <a:lnTo>
                    <a:pt x="2039790" y="3349504"/>
                  </a:lnTo>
                  <a:lnTo>
                    <a:pt x="8839820" y="3349504"/>
                  </a:lnTo>
                  <a:lnTo>
                    <a:pt x="8839820" y="1255726"/>
                  </a:lnTo>
                  <a:lnTo>
                    <a:pt x="9860813" y="1255726"/>
                  </a:lnTo>
                  <a:lnTo>
                    <a:pt x="9860813" y="0"/>
                  </a:lnTo>
                  <a:close/>
                </a:path>
              </a:pathLst>
            </a:custGeom>
            <a:blipFill>
              <a:blip r:embed="rId2"/>
              <a:stretch>
                <a:fillRect t="-43643" b="-4364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6837085" y="3258579"/>
            <a:ext cx="1450915" cy="1450915"/>
          </a:xfrm>
          <a:custGeom>
            <a:avLst/>
            <a:gdLst/>
            <a:ahLst/>
            <a:cxnLst/>
            <a:rect l="l" t="t" r="r" b="b"/>
            <a:pathLst>
              <a:path w="1450915" h="1450915">
                <a:moveTo>
                  <a:pt x="0" y="0"/>
                </a:moveTo>
                <a:lnTo>
                  <a:pt x="1450915" y="0"/>
                </a:lnTo>
                <a:lnTo>
                  <a:pt x="1450915" y="1450915"/>
                </a:lnTo>
                <a:lnTo>
                  <a:pt x="0" y="14509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8174684"/>
            <a:ext cx="2112316" cy="2112316"/>
          </a:xfrm>
          <a:custGeom>
            <a:avLst/>
            <a:gdLst/>
            <a:ahLst/>
            <a:cxnLst/>
            <a:rect l="l" t="t" r="r" b="b"/>
            <a:pathLst>
              <a:path w="2112316" h="2112316">
                <a:moveTo>
                  <a:pt x="0" y="0"/>
                </a:moveTo>
                <a:lnTo>
                  <a:pt x="2112316" y="0"/>
                </a:lnTo>
                <a:lnTo>
                  <a:pt x="2112316" y="2112316"/>
                </a:lnTo>
                <a:lnTo>
                  <a:pt x="0" y="21123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0000">
            <a:off x="2434640" y="8464518"/>
            <a:ext cx="1532648" cy="1532648"/>
          </a:xfrm>
          <a:custGeom>
            <a:avLst/>
            <a:gdLst/>
            <a:ahLst/>
            <a:cxnLst/>
            <a:rect l="l" t="t" r="r" b="b"/>
            <a:pathLst>
              <a:path w="1532648" h="1532648">
                <a:moveTo>
                  <a:pt x="0" y="0"/>
                </a:moveTo>
                <a:lnTo>
                  <a:pt x="1532649" y="0"/>
                </a:lnTo>
                <a:lnTo>
                  <a:pt x="1532649" y="1532648"/>
                </a:lnTo>
                <a:lnTo>
                  <a:pt x="0" y="15326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1607379"/>
            <a:chOff x="0" y="0"/>
            <a:chExt cx="21640800" cy="2143172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21640800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227"/>
                </a:lnSpc>
              </a:pPr>
              <a:r>
                <a:rPr lang="en-US" sz="6023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Anonymous Authentication Mechanisms in V2X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714392"/>
              <a:ext cx="21640800" cy="428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69"/>
                </a:lnSpc>
              </a:pPr>
              <a:r>
                <a:rPr lang="en-US" sz="2053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Exploring cryptographic techniques to enhance </a:t>
              </a:r>
              <a:r>
                <a:rPr lang="en-US" sz="2053" b="1">
                  <a:solidFill>
                    <a:srgbClr val="0B1716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security and privacy</a:t>
              </a:r>
              <a:r>
                <a:rPr lang="en-US" sz="2053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in vehicle-to-everything communication systems.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90778" y="1028700"/>
            <a:ext cx="4922054" cy="6020897"/>
            <a:chOff x="0" y="0"/>
            <a:chExt cx="3009933" cy="36818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09933" cy="3681897"/>
            </a:xfrm>
            <a:custGeom>
              <a:avLst/>
              <a:gdLst/>
              <a:ahLst/>
              <a:cxnLst/>
              <a:rect l="l" t="t" r="r" b="b"/>
              <a:pathLst>
                <a:path w="3009933" h="3681897">
                  <a:moveTo>
                    <a:pt x="0" y="0"/>
                  </a:moveTo>
                  <a:lnTo>
                    <a:pt x="0" y="2301557"/>
                  </a:lnTo>
                  <a:lnTo>
                    <a:pt x="622629" y="2301557"/>
                  </a:lnTo>
                  <a:lnTo>
                    <a:pt x="622629" y="3681897"/>
                  </a:lnTo>
                  <a:lnTo>
                    <a:pt x="2698283" y="3681897"/>
                  </a:lnTo>
                  <a:lnTo>
                    <a:pt x="2698283" y="1380340"/>
                  </a:lnTo>
                  <a:lnTo>
                    <a:pt x="3009933" y="1380340"/>
                  </a:lnTo>
                  <a:lnTo>
                    <a:pt x="3009933" y="0"/>
                  </a:lnTo>
                  <a:close/>
                </a:path>
              </a:pathLst>
            </a:custGeom>
            <a:blipFill>
              <a:blip r:embed="rId2"/>
              <a:stretch>
                <a:fillRect l="-41233" r="-412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337246" y="1028700"/>
            <a:ext cx="4922054" cy="6020897"/>
            <a:chOff x="0" y="0"/>
            <a:chExt cx="3009933" cy="36818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09933" cy="3681897"/>
            </a:xfrm>
            <a:custGeom>
              <a:avLst/>
              <a:gdLst/>
              <a:ahLst/>
              <a:cxnLst/>
              <a:rect l="l" t="t" r="r" b="b"/>
              <a:pathLst>
                <a:path w="3009933" h="3681897">
                  <a:moveTo>
                    <a:pt x="0" y="0"/>
                  </a:moveTo>
                  <a:lnTo>
                    <a:pt x="0" y="2301557"/>
                  </a:lnTo>
                  <a:lnTo>
                    <a:pt x="622629" y="2301557"/>
                  </a:lnTo>
                  <a:lnTo>
                    <a:pt x="622629" y="3681897"/>
                  </a:lnTo>
                  <a:lnTo>
                    <a:pt x="2698283" y="3681897"/>
                  </a:lnTo>
                  <a:lnTo>
                    <a:pt x="2698283" y="1380340"/>
                  </a:lnTo>
                  <a:lnTo>
                    <a:pt x="3009933" y="1380340"/>
                  </a:lnTo>
                  <a:lnTo>
                    <a:pt x="3009933" y="0"/>
                  </a:lnTo>
                  <a:close/>
                </a:path>
              </a:pathLst>
            </a:custGeom>
            <a:blipFill>
              <a:blip r:embed="rId3"/>
              <a:stretch>
                <a:fillRect l="-43810" r="-827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6765194" y="5526791"/>
            <a:ext cx="1522806" cy="1522806"/>
          </a:xfrm>
          <a:custGeom>
            <a:avLst/>
            <a:gdLst/>
            <a:ahLst/>
            <a:cxnLst/>
            <a:rect l="l" t="t" r="r" b="b"/>
            <a:pathLst>
              <a:path w="1522806" h="1522806">
                <a:moveTo>
                  <a:pt x="0" y="0"/>
                </a:moveTo>
                <a:lnTo>
                  <a:pt x="1522806" y="0"/>
                </a:lnTo>
                <a:lnTo>
                  <a:pt x="1522806" y="1522806"/>
                </a:lnTo>
                <a:lnTo>
                  <a:pt x="0" y="1522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3170" y="0"/>
            <a:ext cx="2063739" cy="2063739"/>
          </a:xfrm>
          <a:custGeom>
            <a:avLst/>
            <a:gdLst/>
            <a:ahLst/>
            <a:cxnLst/>
            <a:rect l="l" t="t" r="r" b="b"/>
            <a:pathLst>
              <a:path w="2063739" h="2063739">
                <a:moveTo>
                  <a:pt x="0" y="0"/>
                </a:moveTo>
                <a:lnTo>
                  <a:pt x="2063740" y="0"/>
                </a:lnTo>
                <a:lnTo>
                  <a:pt x="2063740" y="2063739"/>
                </a:lnTo>
                <a:lnTo>
                  <a:pt x="0" y="20637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5400000">
            <a:off x="17099056" y="4288417"/>
            <a:ext cx="855083" cy="855083"/>
          </a:xfrm>
          <a:custGeom>
            <a:avLst/>
            <a:gdLst/>
            <a:ahLst/>
            <a:cxnLst/>
            <a:rect l="l" t="t" r="r" b="b"/>
            <a:pathLst>
              <a:path w="855083" h="855083">
                <a:moveTo>
                  <a:pt x="0" y="0"/>
                </a:moveTo>
                <a:lnTo>
                  <a:pt x="855083" y="0"/>
                </a:lnTo>
                <a:lnTo>
                  <a:pt x="855083" y="855083"/>
                </a:lnTo>
                <a:lnTo>
                  <a:pt x="0" y="8550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4569338"/>
            <a:ext cx="5154811" cy="352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25"/>
              </a:lnSpc>
            </a:pPr>
            <a:r>
              <a:rPr lang="en-US" sz="6825">
                <a:solidFill>
                  <a:srgbClr val="0B1716"/>
                </a:solidFill>
                <a:latin typeface="Ovo"/>
                <a:ea typeface="Ovo"/>
                <a:cs typeface="Ovo"/>
                <a:sym typeface="Ovo"/>
              </a:rPr>
              <a:t>Secure CAM Transmission and Protocol Standards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431362" y="7571948"/>
            <a:ext cx="4581471" cy="1417352"/>
            <a:chOff x="0" y="0"/>
            <a:chExt cx="6108628" cy="188980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57150"/>
              <a:ext cx="6108628" cy="5572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74"/>
                </a:lnSpc>
                <a:spcBef>
                  <a:spcPct val="0"/>
                </a:spcBef>
              </a:pPr>
              <a:r>
                <a:rPr lang="en-US" sz="2481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Standards Overview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7995" y="1065385"/>
              <a:ext cx="5772637" cy="824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938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Various protocols ensure secure vehicle communication.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677829" y="7571948"/>
            <a:ext cx="4581471" cy="1417352"/>
            <a:chOff x="0" y="0"/>
            <a:chExt cx="6108628" cy="188980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57150"/>
              <a:ext cx="6108628" cy="5572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74"/>
                </a:lnSpc>
                <a:spcBef>
                  <a:spcPct val="0"/>
                </a:spcBef>
              </a:pPr>
              <a:r>
                <a:rPr lang="en-US" sz="2481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Protocol Effectiveness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7995" y="1065385"/>
              <a:ext cx="5772637" cy="824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938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Evaluating the strength of different V2X protocols.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54571" y="5138681"/>
            <a:ext cx="2555809" cy="2555809"/>
          </a:xfrm>
          <a:custGeom>
            <a:avLst/>
            <a:gdLst/>
            <a:ahLst/>
            <a:cxnLst/>
            <a:rect l="l" t="t" r="r" b="b"/>
            <a:pathLst>
              <a:path w="2555809" h="2555809">
                <a:moveTo>
                  <a:pt x="0" y="0"/>
                </a:moveTo>
                <a:lnTo>
                  <a:pt x="2555809" y="0"/>
                </a:lnTo>
                <a:lnTo>
                  <a:pt x="2555809" y="2555809"/>
                </a:lnTo>
                <a:lnTo>
                  <a:pt x="0" y="2555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699458" y="419100"/>
            <a:ext cx="2554410" cy="3106665"/>
          </a:xfrm>
          <a:custGeom>
            <a:avLst/>
            <a:gdLst/>
            <a:ahLst/>
            <a:cxnLst/>
            <a:rect l="l" t="t" r="r" b="b"/>
            <a:pathLst>
              <a:path w="3106665" h="3106665">
                <a:moveTo>
                  <a:pt x="0" y="0"/>
                </a:moveTo>
                <a:lnTo>
                  <a:pt x="3106665" y="0"/>
                </a:lnTo>
                <a:lnTo>
                  <a:pt x="3106665" y="3106664"/>
                </a:lnTo>
                <a:lnTo>
                  <a:pt x="0" y="31066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154571" y="7694490"/>
            <a:ext cx="2554410" cy="2554410"/>
          </a:xfrm>
          <a:custGeom>
            <a:avLst/>
            <a:gdLst/>
            <a:ahLst/>
            <a:cxnLst/>
            <a:rect l="l" t="t" r="r" b="b"/>
            <a:pathLst>
              <a:path w="2554410" h="2554410">
                <a:moveTo>
                  <a:pt x="0" y="0"/>
                </a:moveTo>
                <a:lnTo>
                  <a:pt x="2554410" y="0"/>
                </a:lnTo>
                <a:lnTo>
                  <a:pt x="2554410" y="2554410"/>
                </a:lnTo>
                <a:lnTo>
                  <a:pt x="0" y="2554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699457" y="3305180"/>
            <a:ext cx="2588544" cy="5719625"/>
          </a:xfrm>
          <a:custGeom>
            <a:avLst/>
            <a:gdLst/>
            <a:ahLst/>
            <a:cxnLst/>
            <a:rect l="l" t="t" r="r" b="b"/>
            <a:pathLst>
              <a:path w="5719625" h="5719625">
                <a:moveTo>
                  <a:pt x="0" y="0"/>
                </a:moveTo>
                <a:lnTo>
                  <a:pt x="5719625" y="0"/>
                </a:lnTo>
                <a:lnTo>
                  <a:pt x="5719625" y="5719625"/>
                </a:lnTo>
                <a:lnTo>
                  <a:pt x="0" y="5719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1028700"/>
            <a:ext cx="11920124" cy="4906021"/>
            <a:chOff x="0" y="0"/>
            <a:chExt cx="15893499" cy="6541361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15893499" cy="5535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999"/>
                </a:lnSpc>
              </a:pPr>
              <a:r>
                <a:rPr lang="en-US" sz="8799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Simulation Environment Setup for V2X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893661"/>
              <a:ext cx="12031149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Overview of tools and configurations used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7328935"/>
            <a:ext cx="4327193" cy="1695870"/>
            <a:chOff x="0" y="0"/>
            <a:chExt cx="5769591" cy="226116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38100"/>
              <a:ext cx="5769591" cy="600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0B171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Tools for Simulation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82533"/>
              <a:ext cx="5769591" cy="1378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l">
                <a:lnSpc>
                  <a:spcPts val="4316"/>
                </a:lnSpc>
                <a:buFont typeface="Arial"/>
                <a:buChar char="•"/>
              </a:pPr>
              <a:r>
                <a:rPr lang="en-US" sz="2600" u="none" strike="noStrike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SUMO for traffic simulation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15291" y="7871860"/>
            <a:ext cx="4327193" cy="1152945"/>
            <a:chOff x="0" y="0"/>
            <a:chExt cx="5769591" cy="153726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5769591" cy="600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0B171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Configuration Settings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82533"/>
              <a:ext cx="5769591" cy="654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l">
                <a:lnSpc>
                  <a:spcPts val="4316"/>
                </a:lnSpc>
                <a:buFont typeface="Arial"/>
                <a:buChar char="•"/>
              </a:pPr>
              <a:r>
                <a:rPr lang="en-US" sz="2600" u="none" strike="noStrike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Road network design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709096"/>
            <a:ext cx="9200096" cy="2194559"/>
            <a:chOff x="0" y="0"/>
            <a:chExt cx="12266795" cy="2926079"/>
          </a:xfrm>
        </p:grpSpPr>
        <p:sp>
          <p:nvSpPr>
            <p:cNvPr id="3" name="TextBox 3"/>
            <p:cNvSpPr txBox="1"/>
            <p:nvPr/>
          </p:nvSpPr>
          <p:spPr>
            <a:xfrm>
              <a:off x="0" y="2253191"/>
              <a:ext cx="12266795" cy="672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60"/>
                </a:lnSpc>
                <a:spcBef>
                  <a:spcPct val="0"/>
                </a:spcBef>
              </a:pPr>
              <a:r>
                <a:rPr lang="en-US" sz="3200" u="none" strike="noStrike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High accuracy in results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0"/>
              <a:ext cx="12266795" cy="1837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90%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3564603"/>
            <a:ext cx="9200096" cy="0"/>
          </a:xfrm>
          <a:prstGeom prst="line">
            <a:avLst/>
          </a:prstGeom>
          <a:ln w="9525" cap="flat">
            <a:solidFill>
              <a:srgbClr val="753A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28700" y="6450210"/>
            <a:ext cx="9200096" cy="0"/>
          </a:xfrm>
          <a:prstGeom prst="line">
            <a:avLst/>
          </a:prstGeom>
          <a:ln w="9525" cap="flat">
            <a:solidFill>
              <a:srgbClr val="753A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400000">
            <a:off x="14744462" y="15813"/>
            <a:ext cx="2213932" cy="2213932"/>
          </a:xfrm>
          <a:custGeom>
            <a:avLst/>
            <a:gdLst/>
            <a:ahLst/>
            <a:cxnLst/>
            <a:rect l="l" t="t" r="r" b="b"/>
            <a:pathLst>
              <a:path w="2213932" h="2213932">
                <a:moveTo>
                  <a:pt x="0" y="0"/>
                </a:moveTo>
                <a:lnTo>
                  <a:pt x="2213932" y="0"/>
                </a:lnTo>
                <a:lnTo>
                  <a:pt x="2213932" y="2213932"/>
                </a:lnTo>
                <a:lnTo>
                  <a:pt x="0" y="2213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668000" y="7301481"/>
            <a:ext cx="2966469" cy="2966469"/>
          </a:xfrm>
          <a:custGeom>
            <a:avLst/>
            <a:gdLst/>
            <a:ahLst/>
            <a:cxnLst/>
            <a:rect l="l" t="t" r="r" b="b"/>
            <a:pathLst>
              <a:path w="2966469" h="2966469">
                <a:moveTo>
                  <a:pt x="0" y="0"/>
                </a:moveTo>
                <a:lnTo>
                  <a:pt x="2966469" y="0"/>
                </a:lnTo>
                <a:lnTo>
                  <a:pt x="2966469" y="2966468"/>
                </a:lnTo>
                <a:lnTo>
                  <a:pt x="0" y="2966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122468" y="2712375"/>
            <a:ext cx="3307196" cy="3289156"/>
          </a:xfrm>
          <a:custGeom>
            <a:avLst/>
            <a:gdLst/>
            <a:ahLst/>
            <a:cxnLst/>
            <a:rect l="l" t="t" r="r" b="b"/>
            <a:pathLst>
              <a:path w="3307196" h="3289156">
                <a:moveTo>
                  <a:pt x="0" y="0"/>
                </a:moveTo>
                <a:lnTo>
                  <a:pt x="3307196" y="0"/>
                </a:lnTo>
                <a:lnTo>
                  <a:pt x="3307196" y="3289156"/>
                </a:lnTo>
                <a:lnTo>
                  <a:pt x="0" y="3289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028700" y="1025525"/>
            <a:ext cx="9200096" cy="2194559"/>
            <a:chOff x="0" y="0"/>
            <a:chExt cx="12266795" cy="2926079"/>
          </a:xfrm>
        </p:grpSpPr>
        <p:sp>
          <p:nvSpPr>
            <p:cNvPr id="11" name="TextBox 11"/>
            <p:cNvSpPr txBox="1"/>
            <p:nvPr/>
          </p:nvSpPr>
          <p:spPr>
            <a:xfrm>
              <a:off x="0" y="2253191"/>
              <a:ext cx="12266795" cy="672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60"/>
                </a:lnSpc>
                <a:spcBef>
                  <a:spcPct val="0"/>
                </a:spcBef>
              </a:pPr>
              <a:r>
                <a:rPr lang="en-US" sz="3200" u="none" strike="noStrike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All scenarios successfully tested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90500"/>
              <a:ext cx="12266795" cy="1837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u="none" strike="noStrike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5 out of 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6794728"/>
            <a:ext cx="9200096" cy="2194559"/>
            <a:chOff x="0" y="0"/>
            <a:chExt cx="12266795" cy="2926079"/>
          </a:xfrm>
        </p:grpSpPr>
        <p:sp>
          <p:nvSpPr>
            <p:cNvPr id="14" name="TextBox 14"/>
            <p:cNvSpPr txBox="1"/>
            <p:nvPr/>
          </p:nvSpPr>
          <p:spPr>
            <a:xfrm>
              <a:off x="0" y="2253191"/>
              <a:ext cx="12266795" cy="672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60"/>
                </a:lnSpc>
                <a:spcBef>
                  <a:spcPct val="0"/>
                </a:spcBef>
              </a:pPr>
              <a:r>
                <a:rPr lang="en-US" sz="3200" u="none" strike="noStrike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Total vehicles simulated in tests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90500"/>
              <a:ext cx="12266795" cy="1837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1,000 vehicles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4555638" y="6496831"/>
            <a:ext cx="2440856" cy="2440856"/>
          </a:xfrm>
          <a:custGeom>
            <a:avLst/>
            <a:gdLst/>
            <a:ahLst/>
            <a:cxnLst/>
            <a:rect l="l" t="t" r="r" b="b"/>
            <a:pathLst>
              <a:path w="2440856" h="2440856">
                <a:moveTo>
                  <a:pt x="0" y="0"/>
                </a:moveTo>
                <a:lnTo>
                  <a:pt x="2440856" y="0"/>
                </a:lnTo>
                <a:lnTo>
                  <a:pt x="2440856" y="2440857"/>
                </a:lnTo>
                <a:lnTo>
                  <a:pt x="0" y="2440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427876" y="3436454"/>
            <a:ext cx="7139516" cy="0"/>
          </a:xfrm>
          <a:prstGeom prst="line">
            <a:avLst/>
          </a:prstGeom>
          <a:ln w="9525" cap="flat">
            <a:solidFill>
              <a:srgbClr val="753A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9427876" y="7402778"/>
            <a:ext cx="7139516" cy="0"/>
          </a:xfrm>
          <a:prstGeom prst="line">
            <a:avLst/>
          </a:prstGeom>
          <a:ln w="9525" cap="flat">
            <a:solidFill>
              <a:srgbClr val="753A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9427876" y="5471349"/>
            <a:ext cx="7139516" cy="0"/>
          </a:xfrm>
          <a:prstGeom prst="line">
            <a:avLst/>
          </a:prstGeom>
          <a:ln w="9525" cap="flat">
            <a:solidFill>
              <a:srgbClr val="753A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4681198"/>
            <a:ext cx="6475629" cy="1266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  <a:spcBef>
                <a:spcPct val="0"/>
              </a:spcBef>
            </a:pPr>
            <a:r>
              <a:rPr lang="en-US" sz="4860" u="none" strike="noStrike">
                <a:solidFill>
                  <a:srgbClr val="0B1716"/>
                </a:solidFill>
                <a:latin typeface="Ovo"/>
                <a:ea typeface="Ovo"/>
                <a:cs typeface="Ovo"/>
                <a:sym typeface="Ovo"/>
              </a:rPr>
              <a:t>Results and Analysis of V2X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427876" y="2183975"/>
            <a:ext cx="7139516" cy="614833"/>
            <a:chOff x="0" y="0"/>
            <a:chExt cx="9519354" cy="819777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9519354" cy="36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21"/>
                </a:lnSpc>
              </a:pPr>
              <a:r>
                <a:rPr lang="en-US" sz="1767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Performance Metrics Overview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41534"/>
              <a:ext cx="9519354" cy="2782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795"/>
                </a:lnSpc>
              </a:pPr>
              <a:r>
                <a:rPr lang="en-US" sz="1380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Evaluation of key performance indicators was conducted for accuracy.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27876" y="4119734"/>
            <a:ext cx="7139516" cy="614833"/>
            <a:chOff x="0" y="0"/>
            <a:chExt cx="9519354" cy="81977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9519354" cy="36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21"/>
                </a:lnSpc>
              </a:pPr>
              <a:r>
                <a:rPr lang="en-US" sz="1767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Security Findings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41534"/>
              <a:ext cx="9519354" cy="2782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795"/>
                </a:lnSpc>
              </a:pPr>
              <a:r>
                <a:rPr lang="en-US" sz="1380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Analysis showed improvements in data protection and user privacy.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27876" y="6055493"/>
            <a:ext cx="7139516" cy="614833"/>
            <a:chOff x="0" y="0"/>
            <a:chExt cx="9519354" cy="81977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9519354" cy="36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21"/>
                </a:lnSpc>
              </a:pPr>
              <a:r>
                <a:rPr lang="en-US" sz="1767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Transmission Efficiency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541534"/>
              <a:ext cx="9519354" cy="2782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795"/>
                </a:lnSpc>
              </a:pPr>
              <a:r>
                <a:rPr lang="en-US" sz="1380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Secure CAM transmission demonstrated significant reductions in latency.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27876" y="7991252"/>
            <a:ext cx="7139516" cy="614833"/>
            <a:chOff x="0" y="0"/>
            <a:chExt cx="9519354" cy="81977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"/>
              <a:ext cx="9519354" cy="36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21"/>
                </a:lnSpc>
              </a:pPr>
              <a:r>
                <a:rPr lang="en-US" sz="1767">
                  <a:solidFill>
                    <a:srgbClr val="0B1716"/>
                  </a:solidFill>
                  <a:latin typeface="Ovo"/>
                  <a:ea typeface="Ovo"/>
                  <a:cs typeface="Ovo"/>
                  <a:sym typeface="Ovo"/>
                </a:rPr>
                <a:t>Future Improvements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541534"/>
              <a:ext cx="9519354" cy="2782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795"/>
                </a:lnSpc>
              </a:pPr>
              <a:r>
                <a:rPr lang="en-US" sz="1380">
                  <a:solidFill>
                    <a:srgbClr val="0B1716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Recommendations include advanced algorithms for further enhancement of security.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3879084" y="8399084"/>
            <a:ext cx="999031" cy="999031"/>
          </a:xfrm>
          <a:custGeom>
            <a:avLst/>
            <a:gdLst/>
            <a:ahLst/>
            <a:cxnLst/>
            <a:rect l="l" t="t" r="r" b="b"/>
            <a:pathLst>
              <a:path w="999031" h="999031">
                <a:moveTo>
                  <a:pt x="0" y="0"/>
                </a:moveTo>
                <a:lnTo>
                  <a:pt x="999032" y="0"/>
                </a:lnTo>
                <a:lnTo>
                  <a:pt x="999032" y="999032"/>
                </a:lnTo>
                <a:lnTo>
                  <a:pt x="0" y="99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3879084" y="1154540"/>
            <a:ext cx="999031" cy="999031"/>
          </a:xfrm>
          <a:custGeom>
            <a:avLst/>
            <a:gdLst/>
            <a:ahLst/>
            <a:cxnLst/>
            <a:rect l="l" t="t" r="r" b="b"/>
            <a:pathLst>
              <a:path w="999031" h="999031">
                <a:moveTo>
                  <a:pt x="0" y="0"/>
                </a:moveTo>
                <a:lnTo>
                  <a:pt x="999032" y="0"/>
                </a:lnTo>
                <a:lnTo>
                  <a:pt x="999032" y="999031"/>
                </a:lnTo>
                <a:lnTo>
                  <a:pt x="0" y="9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-5400000">
            <a:off x="978295" y="8276655"/>
            <a:ext cx="1250711" cy="1243889"/>
          </a:xfrm>
          <a:custGeom>
            <a:avLst/>
            <a:gdLst/>
            <a:ahLst/>
            <a:cxnLst/>
            <a:rect l="l" t="t" r="r" b="b"/>
            <a:pathLst>
              <a:path w="1250711" h="1243889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5400000">
            <a:off x="978295" y="1032111"/>
            <a:ext cx="1250711" cy="1243889"/>
          </a:xfrm>
          <a:custGeom>
            <a:avLst/>
            <a:gdLst/>
            <a:ahLst/>
            <a:cxnLst/>
            <a:rect l="l" t="t" r="r" b="b"/>
            <a:pathLst>
              <a:path w="1250711" h="1243889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 rot="-5400000">
            <a:off x="5189030" y="8276655"/>
            <a:ext cx="1250711" cy="1243889"/>
          </a:xfrm>
          <a:custGeom>
            <a:avLst/>
            <a:gdLst/>
            <a:ahLst/>
            <a:cxnLst/>
            <a:rect l="l" t="t" r="r" b="b"/>
            <a:pathLst>
              <a:path w="1250711" h="1243889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 rot="-5400000">
            <a:off x="5189030" y="1032111"/>
            <a:ext cx="1250711" cy="1243889"/>
          </a:xfrm>
          <a:custGeom>
            <a:avLst/>
            <a:gdLst/>
            <a:ahLst/>
            <a:cxnLst/>
            <a:rect l="l" t="t" r="r" b="b"/>
            <a:pathLst>
              <a:path w="1250711" h="1243889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 rot="-5400000">
            <a:off x="2641943" y="8437060"/>
            <a:ext cx="923080" cy="923080"/>
          </a:xfrm>
          <a:custGeom>
            <a:avLst/>
            <a:gdLst/>
            <a:ahLst/>
            <a:cxnLst/>
            <a:rect l="l" t="t" r="r" b="b"/>
            <a:pathLst>
              <a:path w="923080" h="923080">
                <a:moveTo>
                  <a:pt x="0" y="0"/>
                </a:moveTo>
                <a:lnTo>
                  <a:pt x="923080" y="0"/>
                </a:lnTo>
                <a:lnTo>
                  <a:pt x="923080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 rot="-5400000">
            <a:off x="2641943" y="1192516"/>
            <a:ext cx="923080" cy="923080"/>
          </a:xfrm>
          <a:custGeom>
            <a:avLst/>
            <a:gdLst/>
            <a:ahLst/>
            <a:cxnLst/>
            <a:rect l="l" t="t" r="r" b="b"/>
            <a:pathLst>
              <a:path w="923080" h="923080">
                <a:moveTo>
                  <a:pt x="0" y="0"/>
                </a:moveTo>
                <a:lnTo>
                  <a:pt x="923080" y="0"/>
                </a:lnTo>
                <a:lnTo>
                  <a:pt x="923080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9811" y="2164627"/>
            <a:ext cx="13708378" cy="7511049"/>
          </a:xfrm>
          <a:custGeom>
            <a:avLst/>
            <a:gdLst/>
            <a:ahLst/>
            <a:cxnLst/>
            <a:rect l="l" t="t" r="r" b="b"/>
            <a:pathLst>
              <a:path w="13708378" h="7511049">
                <a:moveTo>
                  <a:pt x="0" y="0"/>
                </a:moveTo>
                <a:lnTo>
                  <a:pt x="13708378" y="0"/>
                </a:lnTo>
                <a:lnTo>
                  <a:pt x="13708378" y="7511049"/>
                </a:lnTo>
                <a:lnTo>
                  <a:pt x="0" y="7511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521653"/>
            <a:ext cx="6379874" cy="1176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0B1716"/>
                </a:solidFill>
                <a:latin typeface="Ovo"/>
                <a:ea typeface="Ovo"/>
                <a:cs typeface="Ovo"/>
                <a:sym typeface="Ovo"/>
              </a:rPr>
              <a:t>Result!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8174684"/>
            <a:ext cx="2112316" cy="2112316"/>
          </a:xfrm>
          <a:custGeom>
            <a:avLst/>
            <a:gdLst/>
            <a:ahLst/>
            <a:cxnLst/>
            <a:rect l="l" t="t" r="r" b="b"/>
            <a:pathLst>
              <a:path w="2112316" h="2112316">
                <a:moveTo>
                  <a:pt x="0" y="0"/>
                </a:moveTo>
                <a:lnTo>
                  <a:pt x="2112316" y="0"/>
                </a:lnTo>
                <a:lnTo>
                  <a:pt x="2112316" y="2112316"/>
                </a:lnTo>
                <a:lnTo>
                  <a:pt x="0" y="21123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5400000">
            <a:off x="16211008" y="139425"/>
            <a:ext cx="1864171" cy="1743179"/>
          </a:xfrm>
          <a:custGeom>
            <a:avLst/>
            <a:gdLst/>
            <a:ahLst/>
            <a:cxnLst/>
            <a:rect l="l" t="t" r="r" b="b"/>
            <a:pathLst>
              <a:path w="2213932" h="2213932">
                <a:moveTo>
                  <a:pt x="0" y="0"/>
                </a:moveTo>
                <a:lnTo>
                  <a:pt x="2213932" y="0"/>
                </a:lnTo>
                <a:lnTo>
                  <a:pt x="2213932" y="2213932"/>
                </a:lnTo>
                <a:lnTo>
                  <a:pt x="0" y="22139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16168553" y="8136584"/>
            <a:ext cx="2119447" cy="1790700"/>
          </a:xfrm>
          <a:custGeom>
            <a:avLst/>
            <a:gdLst/>
            <a:ahLst/>
            <a:cxnLst/>
            <a:rect l="l" t="t" r="r" b="b"/>
            <a:pathLst>
              <a:path w="2966469" h="2966469">
                <a:moveTo>
                  <a:pt x="0" y="0"/>
                </a:moveTo>
                <a:lnTo>
                  <a:pt x="2966468" y="0"/>
                </a:lnTo>
                <a:lnTo>
                  <a:pt x="2966468" y="2966469"/>
                </a:lnTo>
                <a:lnTo>
                  <a:pt x="0" y="29664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998189" y="2453741"/>
            <a:ext cx="2289811" cy="2440856"/>
          </a:xfrm>
          <a:custGeom>
            <a:avLst/>
            <a:gdLst/>
            <a:ahLst/>
            <a:cxnLst/>
            <a:rect l="l" t="t" r="r" b="b"/>
            <a:pathLst>
              <a:path w="3307196" h="3289156">
                <a:moveTo>
                  <a:pt x="0" y="0"/>
                </a:moveTo>
                <a:lnTo>
                  <a:pt x="3307196" y="0"/>
                </a:lnTo>
                <a:lnTo>
                  <a:pt x="3307196" y="3289157"/>
                </a:lnTo>
                <a:lnTo>
                  <a:pt x="0" y="32891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168553" y="5392404"/>
            <a:ext cx="1856641" cy="1936486"/>
          </a:xfrm>
          <a:custGeom>
            <a:avLst/>
            <a:gdLst/>
            <a:ahLst/>
            <a:cxnLst/>
            <a:rect l="l" t="t" r="r" b="b"/>
            <a:pathLst>
              <a:path w="2440856" h="2440856">
                <a:moveTo>
                  <a:pt x="0" y="0"/>
                </a:moveTo>
                <a:lnTo>
                  <a:pt x="2440856" y="0"/>
                </a:lnTo>
                <a:lnTo>
                  <a:pt x="2440856" y="2440856"/>
                </a:lnTo>
                <a:lnTo>
                  <a:pt x="0" y="24408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90625"/>
            <a:ext cx="6379874" cy="340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u="none" strike="noStrike">
                <a:solidFill>
                  <a:srgbClr val="0B1716"/>
                </a:solidFill>
                <a:latin typeface="Ovo"/>
                <a:ea typeface="Ovo"/>
                <a:cs typeface="Ovo"/>
                <a:sym typeface="Ovo"/>
              </a:rPr>
              <a:t>We'd love to hear from you!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371190" y="0"/>
            <a:ext cx="9921573" cy="10287000"/>
            <a:chOff x="0" y="0"/>
            <a:chExt cx="2613089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13089" cy="2709333"/>
            </a:xfrm>
            <a:custGeom>
              <a:avLst/>
              <a:gdLst/>
              <a:ahLst/>
              <a:cxnLst/>
              <a:rect l="l" t="t" r="r" b="b"/>
              <a:pathLst>
                <a:path w="2613089" h="2709333">
                  <a:moveTo>
                    <a:pt x="0" y="0"/>
                  </a:moveTo>
                  <a:lnTo>
                    <a:pt x="2613089" y="0"/>
                  </a:lnTo>
                  <a:lnTo>
                    <a:pt x="26130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A230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613089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371190" y="-1"/>
            <a:ext cx="4960786" cy="2480393"/>
          </a:xfrm>
          <a:custGeom>
            <a:avLst/>
            <a:gdLst/>
            <a:ahLst/>
            <a:cxnLst/>
            <a:rect l="l" t="t" r="r" b="b"/>
            <a:pathLst>
              <a:path w="4960786" h="4960786">
                <a:moveTo>
                  <a:pt x="0" y="0"/>
                </a:moveTo>
                <a:lnTo>
                  <a:pt x="4960786" y="0"/>
                </a:lnTo>
                <a:lnTo>
                  <a:pt x="4960786" y="4960786"/>
                </a:lnTo>
                <a:lnTo>
                  <a:pt x="0" y="4960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331976" y="0"/>
            <a:ext cx="4960786" cy="2480392"/>
          </a:xfrm>
          <a:custGeom>
            <a:avLst/>
            <a:gdLst/>
            <a:ahLst/>
            <a:cxnLst/>
            <a:rect l="l" t="t" r="r" b="b"/>
            <a:pathLst>
              <a:path w="4960786" h="4960786">
                <a:moveTo>
                  <a:pt x="0" y="0"/>
                </a:moveTo>
                <a:lnTo>
                  <a:pt x="4960786" y="0"/>
                </a:lnTo>
                <a:lnTo>
                  <a:pt x="4960786" y="4960786"/>
                </a:lnTo>
                <a:lnTo>
                  <a:pt x="0" y="4960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28700" y="7803790"/>
            <a:ext cx="1454510" cy="1454510"/>
          </a:xfrm>
          <a:custGeom>
            <a:avLst/>
            <a:gdLst/>
            <a:ahLst/>
            <a:cxnLst/>
            <a:rect l="l" t="t" r="r" b="b"/>
            <a:pathLst>
              <a:path w="1454510" h="1454510">
                <a:moveTo>
                  <a:pt x="0" y="0"/>
                </a:moveTo>
                <a:lnTo>
                  <a:pt x="1454510" y="0"/>
                </a:lnTo>
                <a:lnTo>
                  <a:pt x="1454510" y="1454510"/>
                </a:lnTo>
                <a:lnTo>
                  <a:pt x="0" y="1454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142039" y="5221425"/>
            <a:ext cx="5510520" cy="3490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49"/>
              </a:lnSpc>
            </a:pPr>
            <a:r>
              <a:rPr lang="en-US" sz="13449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Thank</a:t>
            </a:r>
          </a:p>
          <a:p>
            <a:pPr marL="0" lvl="0" indent="0" algn="l">
              <a:lnSpc>
                <a:spcPts val="13449"/>
              </a:lnSpc>
            </a:pPr>
            <a:r>
              <a:rPr lang="en-US" sz="13449" u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Macintosh PowerPoint</Application>
  <PresentationFormat>Custom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Open Sauce</vt:lpstr>
      <vt:lpstr>Open Sauce Bold</vt:lpstr>
      <vt:lpstr>Arial</vt:lpstr>
      <vt:lpstr>Open Sauce Light</vt:lpstr>
      <vt:lpstr>Calibri</vt:lpstr>
      <vt:lpstr>Ovo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Anonymous Authentication in V2X</dc:title>
  <dc:description>Presentation - Anonymous Authentication in V2X</dc:description>
  <cp:lastModifiedBy>RUSHIL GHETIYA (RA2211003011217)</cp:lastModifiedBy>
  <cp:revision>2</cp:revision>
  <dcterms:created xsi:type="dcterms:W3CDTF">2006-08-16T00:00:00Z</dcterms:created>
  <dcterms:modified xsi:type="dcterms:W3CDTF">2025-04-30T17:57:18Z</dcterms:modified>
  <dc:identifier>DAGmIeNP6vc</dc:identifier>
</cp:coreProperties>
</file>